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cf38aac96a41cd" /><Relationship Type="http://schemas.openxmlformats.org/officeDocument/2006/relationships/extended-properties" Target="/docProps/app.xml" Id="R63e9514836ad4f2b" /><Relationship Type="http://schemas.openxmlformats.org/officeDocument/2006/relationships/officeDocument" Target="/ppt/presentation.xml" Id="R4bdd53fe9cad41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1b37f7d07a45e3"/>
  </p:sldMasterIdLst>
  <p:notesMasterIdLst>
    <p:notesMasterId xmlns:r="http://schemas.openxmlformats.org/officeDocument/2006/relationships" r:id="Rfe9af49d01ee443d"/>
  </p:notesMasterIdLst>
  <p:sldIdLst>
    <p:sldId xmlns:r="http://schemas.openxmlformats.org/officeDocument/2006/relationships" id="256" r:id="R83c92ff62ea34215"/>
    <p:sldId xmlns:r="http://schemas.openxmlformats.org/officeDocument/2006/relationships" id="257" r:id="R50fcecf85f7a497d"/>
    <p:sldId xmlns:r="http://schemas.openxmlformats.org/officeDocument/2006/relationships" id="258" r:id="R7764c44010ad4cdd"/>
    <p:sldId xmlns:r="http://schemas.openxmlformats.org/officeDocument/2006/relationships" id="259" r:id="R728ede9703974e64"/>
    <p:sldId xmlns:r="http://schemas.openxmlformats.org/officeDocument/2006/relationships" id="260" r:id="Rc93018eced6e47f3"/>
    <p:sldId xmlns:r="http://schemas.openxmlformats.org/officeDocument/2006/relationships" id="261" r:id="R61fd162715e843af"/>
    <p:sldId xmlns:r="http://schemas.openxmlformats.org/officeDocument/2006/relationships" id="262" r:id="R62475379d4c04933"/>
    <p:sldId xmlns:r="http://schemas.openxmlformats.org/officeDocument/2006/relationships" id="263" r:id="R1294deac34d54da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dc6e9074fe420a" /><Relationship Type="http://schemas.openxmlformats.org/officeDocument/2006/relationships/slideMaster" Target="/ppt/slideMasters/slideMaster1.xml" Id="R6d1b37f7d07a45e3" /><Relationship Type="http://schemas.openxmlformats.org/officeDocument/2006/relationships/notesMaster" Target="/ppt/notesMasters/notesMaster1.xml" Id="Rfe9af49d01ee443d" /><Relationship Type="http://schemas.openxmlformats.org/officeDocument/2006/relationships/presProps" Target="/ppt/presProps.xml" Id="R87984a0c94d0490f" /><Relationship Type="http://schemas.openxmlformats.org/officeDocument/2006/relationships/tableStyles" Target="/ppt/tableStyles.xml" Id="Rcc0a66db3dd74c64" /><Relationship Type="http://schemas.openxmlformats.org/officeDocument/2006/relationships/slide" Target="/ppt/slides/slide1.xml" Id="R83c92ff62ea34215" /><Relationship Type="http://schemas.openxmlformats.org/officeDocument/2006/relationships/slide" Target="/ppt/slides/slide2.xml" Id="R50fcecf85f7a497d" /><Relationship Type="http://schemas.openxmlformats.org/officeDocument/2006/relationships/slide" Target="/ppt/slides/slide3.xml" Id="R7764c44010ad4cdd" /><Relationship Type="http://schemas.openxmlformats.org/officeDocument/2006/relationships/slide" Target="/ppt/slides/slide4.xml" Id="R728ede9703974e64" /><Relationship Type="http://schemas.openxmlformats.org/officeDocument/2006/relationships/slide" Target="/ppt/slides/slide5.xml" Id="Rc93018eced6e47f3" /><Relationship Type="http://schemas.openxmlformats.org/officeDocument/2006/relationships/slide" Target="/ppt/slides/slide6.xml" Id="R61fd162715e843af" /><Relationship Type="http://schemas.openxmlformats.org/officeDocument/2006/relationships/slide" Target="/ppt/slides/slide7.xml" Id="R62475379d4c04933" /><Relationship Type="http://schemas.openxmlformats.org/officeDocument/2006/relationships/slide" Target="/ppt/slides/slide8.xml" Id="R1294deac34d54d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71d084865943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7caeb790fa4625" /><Relationship Type="http://schemas.openxmlformats.org/officeDocument/2006/relationships/notesMaster" Target="/ppt/notesMasters/notesMaster1.xml" Id="R16f4f3b7785b49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884104f0ff4e2e" /><Relationship Type="http://schemas.openxmlformats.org/officeDocument/2006/relationships/notesMaster" Target="/ppt/notesMasters/notesMaster1.xml" Id="R7d66147b93e549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94f6ea3cf64e5a" /><Relationship Type="http://schemas.openxmlformats.org/officeDocument/2006/relationships/notesMaster" Target="/ppt/notesMasters/notesMaster1.xml" Id="Radcb022fc3fa4b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8fa48a5b40493d" /><Relationship Type="http://schemas.openxmlformats.org/officeDocument/2006/relationships/notesMaster" Target="/ppt/notesMasters/notesMaster1.xml" Id="R839e31becb364d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50ccf8b41d46ba" /><Relationship Type="http://schemas.openxmlformats.org/officeDocument/2006/relationships/notesMaster" Target="/ppt/notesMasters/notesMaster1.xml" Id="Rbe77251e91f344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2b399cdd3e42cd" /><Relationship Type="http://schemas.openxmlformats.org/officeDocument/2006/relationships/notesMaster" Target="/ppt/notesMasters/notesMaster1.xml" Id="Rca1be34ad46e45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9d34a3985f46d5" /><Relationship Type="http://schemas.openxmlformats.org/officeDocument/2006/relationships/notesMaster" Target="/ppt/notesMasters/notesMaster1.xml" Id="R4368823d7fb24b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bf1fbc66044926" /><Relationship Type="http://schemas.openxmlformats.org/officeDocument/2006/relationships/notesMaster" Target="/ppt/notesMasters/notesMaster1.xml" Id="R7d4bac46d4ff4b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82aa95a474c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ba0c6179834f66" /><Relationship Type="http://schemas.openxmlformats.org/officeDocument/2006/relationships/slideLayout" Target="/ppt/slideLayouts/slideLayout1.xml" Id="Rdedd5fbfeea143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dd5fbfeea143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c5919452447ea" /><Relationship Type="http://schemas.openxmlformats.org/officeDocument/2006/relationships/notesSlide" Target="/ppt/notesSlides/notesSlide1.xml" Id="Rd094049a890644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fe5b8f45f460c" /><Relationship Type="http://schemas.openxmlformats.org/officeDocument/2006/relationships/notesSlide" Target="/ppt/notesSlides/notesSlide2.xml" Id="R7bb98ba7a94f4e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a66ad1c974ee3" /><Relationship Type="http://schemas.openxmlformats.org/officeDocument/2006/relationships/chart" Target="/ppt/slides/charts/chart1.xml" Id="Rdddac2f471f24b12" /><Relationship Type="http://schemas.openxmlformats.org/officeDocument/2006/relationships/notesSlide" Target="/ppt/notesSlides/notesSlide3.xml" Id="Rc1df5ff5141b4a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286f31e7947e4" /><Relationship Type="http://schemas.openxmlformats.org/officeDocument/2006/relationships/chart" Target="/ppt/slides/charts/chart2.xml" Id="R5f847ad292814f90" /><Relationship Type="http://schemas.openxmlformats.org/officeDocument/2006/relationships/notesSlide" Target="/ppt/notesSlides/notesSlide4.xml" Id="Rafa91060cd6647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d23f900424520" /><Relationship Type="http://schemas.openxmlformats.org/officeDocument/2006/relationships/notesSlide" Target="/ppt/notesSlides/notesSlide5.xml" Id="R7e8767f0827e46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52fa5841246bb" /><Relationship Type="http://schemas.openxmlformats.org/officeDocument/2006/relationships/notesSlide" Target="/ppt/notesSlides/notesSlide6.xml" Id="R9a6e81dda8714f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937ae681a4480" /><Relationship Type="http://schemas.openxmlformats.org/officeDocument/2006/relationships/notesSlide" Target="/ppt/notesSlides/notesSlide7.xml" Id="R6ca6376de7c94a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91cadee77452f" /><Relationship Type="http://schemas.openxmlformats.org/officeDocument/2006/relationships/notesSlide" Target="/ppt/notesSlides/notesSlide8.xml" Id="Rb5e49017514b43f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Year 1 annual cost</c:v>
          </c:tx>
          <c:spPr>
            <a:solidFill xmlns:a="http://schemas.openxmlformats.org/drawingml/2006/main">
              <a:srgbClr val="6DCBF4"/>
            </a:solidFill>
          </c:spPr>
          <c:cat>
            <c:strLit>
              <c:ptCount val="4"/>
              <c:pt idx="0">
                <c:v>Prudent convergence</c:v>
              </c:pt>
              <c:pt idx="1">
                <c:v>Conditional convergence</c:v>
              </c:pt>
              <c:pt idx="2">
                <c:v>Historical trend</c:v>
              </c:pt>
              <c:pt idx="3">
                <c:v>Adverse settlement</c:v>
              </c:pt>
            </c:strLit>
          </c:cat>
          <c:val>
            <c:numLit>
              <c:formatCode>General</c:formatCode>
              <c:ptCount val="4"/>
              <c:pt idx="0">
                <c:v>3.51</c:v>
              </c:pt>
              <c:pt idx="1">
                <c:v>3.22</c:v>
              </c:pt>
              <c:pt idx="2">
                <c:v>4.57</c:v>
              </c:pt>
              <c:pt idx="3">
                <c:v>17.67</c:v>
              </c:pt>
            </c:numLit>
          </c:val>
        </c:ser>
        <c:ser>
          <c:idx val="1"/>
          <c:order val="1"/>
          <c:tx>
            <c:v>Year 10 annual cost</c:v>
          </c:tx>
          <c:spPr>
            <a:solidFill xmlns:a="http://schemas.openxmlformats.org/drawingml/2006/main">
              <a:srgbClr val="0067B9"/>
            </a:solidFill>
          </c:spPr>
          <c:cat>
            <c:strLit>
              <c:ptCount val="4"/>
              <c:pt idx="0">
                <c:v>Prudent convergence</c:v>
              </c:pt>
              <c:pt idx="1">
                <c:v>Conditional convergence</c:v>
              </c:pt>
              <c:pt idx="2">
                <c:v>Historical trend</c:v>
              </c:pt>
              <c:pt idx="3">
                <c:v>Adverse settlement</c:v>
              </c:pt>
            </c:strLit>
          </c:cat>
          <c:val>
            <c:numLit>
              <c:formatCode>General</c:formatCode>
              <c:ptCount val="4"/>
              <c:pt idx="0">
                <c:v>4.77</c:v>
              </c:pt>
              <c:pt idx="1">
                <c:v>1.04</c:v>
              </c:pt>
              <c:pt idx="2">
                <c:v>15.15</c:v>
              </c:pt>
              <c:pt idx="3">
                <c:v>39.17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9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Irish Exchequer unity cost</c:v>
          </c:tx>
          <c:spPr>
            <a:ln xmlns:a="http://schemas.openxmlformats.org/drawingml/2006/main" w="38100">
              <a:solidFill>
                <a:srgbClr val="0067B9"/>
              </a:solidFill>
              <a:prstDash val="solid"/>
            </a:ln>
          </c:spPr>
          <c:marker>
            <c:symbol val="circle"/>
            <c:size val="6"/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15</c:v>
              </c:pt>
              <c:pt idx="4">
                <c:v>20</c:v>
              </c:pt>
              <c:pt idx="5">
                <c:v>25</c:v>
              </c:pt>
            </c:numLit>
          </c:cat>
          <c:val>
            <c:numLit>
              <c:formatCode>General</c:formatCode>
              <c:ptCount val="6"/>
              <c:pt idx="0">
                <c:v>3.51</c:v>
              </c:pt>
              <c:pt idx="1">
                <c:v>4.12</c:v>
              </c:pt>
              <c:pt idx="2">
                <c:v>4.77</c:v>
              </c:pt>
              <c:pt idx="3">
                <c:v>3.96</c:v>
              </c:pt>
              <c:pt idx="4">
                <c:v>3.93</c:v>
              </c:pt>
              <c:pt idx="5">
                <c:v>3.83</c:v>
              </c:pt>
            </c:numLit>
          </c:val>
        </c:ser>
        <c:ser>
          <c:idx val="1"/>
          <c:order val="1"/>
          <c:tx>
            <c:v>UK-financed status-quo deficit</c:v>
          </c:tx>
          <c:spPr>
            <a:ln xmlns:a="http://schemas.openxmlformats.org/drawingml/2006/main" w="38100">
              <a:solidFill>
                <a:srgbClr val="A83A32"/>
              </a:solidFill>
              <a:prstDash val="solid"/>
            </a:ln>
          </c:spPr>
          <c:marker>
            <c:symbol val="circle"/>
            <c:size val="6"/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5</c:v>
              </c:pt>
              <c:pt idx="2">
                <c:v>10</c:v>
              </c:pt>
              <c:pt idx="3">
                <c:v>15</c:v>
              </c:pt>
              <c:pt idx="4">
                <c:v>20</c:v>
              </c:pt>
              <c:pt idx="5">
                <c:v>25</c:v>
              </c:pt>
            </c:numLit>
          </c:cat>
          <c:val>
            <c:numLit>
              <c:formatCode>General</c:formatCode>
              <c:ptCount val="6"/>
              <c:pt idx="0">
                <c:v>17.32</c:v>
              </c:pt>
              <c:pt idx="1">
                <c:v>18.97</c:v>
              </c:pt>
              <c:pt idx="2">
                <c:v>20.96</c:v>
              </c:pt>
              <c:pt idx="3">
                <c:v>22.91</c:v>
              </c:pt>
              <c:pt idx="4">
                <c:v>24.85</c:v>
              </c:pt>
              <c:pt idx="5">
                <c:v>26.84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9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">
            <a:extLst xmlns:a="http://schemas.openxmlformats.org/drawingml/2006/main">
              <a:ext uri="{FF2B5EF4-FFF2-40B4-BE49-F238E27FC236}">
                <a16:creationId xmlns:a16="http://schemas.microsoft.com/office/drawing/2014/main" id="{5CF91AE4-0716-455F-A5BB-AE6C27E3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7B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67B9"/>
                </a:solidFill>
                <a:latin typeface="Arial"/>
                <a:ea typeface="Arial"/>
                <a:cs typeface="Arial"/>
              </a:rPr>
              <a:t>COLLEAGUE BRIEFING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3BFE230-6212-40B2-A80F-B8BB05BB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9906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The Price of Unity</a:t>
            </a:r>
          </a:p>
        </p:txBody>
      </p:sp>
      <p:sp>
        <p:nvSpPr>
          <p:cNvPr id="3" name="cover-sub">
            <a:extLst xmlns:a="http://schemas.openxmlformats.org/drawingml/2006/main">
              <a:ext uri="{FF2B5EF4-FFF2-40B4-BE49-F238E27FC236}">
                <a16:creationId xmlns:a16="http://schemas.microsoft.com/office/drawing/2014/main" id="{AFD85A7B-EBDF-4368-B9FE-8094122A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A transparent framework for testing when Irish unity is fiscally credible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A0726224-54D6-4E0E-A22F-ED0EB334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8200"/>
            <a:ext cx="11277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detail">
            <a:extLst xmlns:a="http://schemas.openxmlformats.org/drawingml/2006/main">
              <a:ext uri="{FF2B5EF4-FFF2-40B4-BE49-F238E27FC236}">
                <a16:creationId xmlns:a16="http://schemas.microsoft.com/office/drawing/2014/main" id="{3032C9CD-FC6B-4BE2-B74D-9E5DAB58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Scenario model · 25-year horizon · evidence and uncertainty suite</a:t>
            </a:r>
          </a:p>
        </p:txBody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07C39E58-45FE-4ACF-8FE9-7D4DEF43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162550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4336708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">
            <a:extLst xmlns:a="http://schemas.openxmlformats.org/drawingml/2006/main">
              <a:ext uri="{FF2B5EF4-FFF2-40B4-BE49-F238E27FC236}">
                <a16:creationId xmlns:a16="http://schemas.microsoft.com/office/drawing/2014/main" id="{E42D6952-8F1F-4D95-AAC7-7702A35C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597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The approach replaces a single headline cost with an auditable decision framework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06888481-02AC-49A0-800D-FF3BCDF2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F911468C-94F5-4479-8563-CBC19219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b1-bar">
            <a:extLst xmlns:a="http://schemas.openxmlformats.org/drawingml/2006/main">
              <a:ext uri="{FF2B5EF4-FFF2-40B4-BE49-F238E27FC236}">
                <a16:creationId xmlns:a16="http://schemas.microsoft.com/office/drawing/2014/main" id="{EEE96116-B362-468A-A21F-7EB50CA0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1-head">
            <a:extLst xmlns:a="http://schemas.openxmlformats.org/drawingml/2006/main">
              <a:ext uri="{FF2B5EF4-FFF2-40B4-BE49-F238E27FC236}">
                <a16:creationId xmlns:a16="http://schemas.microsoft.com/office/drawing/2014/main" id="{E53B4237-8B3D-42C8-BA0C-8F4C3531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Transparent assumptions</a:t>
            </a:r>
          </a:p>
        </p:txBody>
      </p:sp>
      <p:sp>
        <p:nvSpPr>
          <p:cNvPr id="6" name="b1-body">
            <a:extLst xmlns:a="http://schemas.openxmlformats.org/drawingml/2006/main">
              <a:ext uri="{FF2B5EF4-FFF2-40B4-BE49-F238E27FC236}">
                <a16:creationId xmlns:a16="http://schemas.microsoft.com/office/drawing/2014/main" id="{62B96CCC-7743-40CD-B65F-E0696BA4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20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Every material parameter is classified as observed, derived, estimated, scenario-based or negotiation-dependent.</a:t>
            </a:r>
          </a:p>
        </p:txBody>
      </p:sp>
      <p:sp>
        <p:nvSpPr>
          <p:cNvPr id="7" name="b2-bar">
            <a:extLst xmlns:a="http://schemas.openxmlformats.org/drawingml/2006/main">
              <a:ext uri="{FF2B5EF4-FFF2-40B4-BE49-F238E27FC236}">
                <a16:creationId xmlns:a16="http://schemas.microsoft.com/office/drawing/2014/main" id="{B66409DA-F014-4C39-8981-0EAFC157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907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2-head">
            <a:extLst xmlns:a="http://schemas.openxmlformats.org/drawingml/2006/main">
              <a:ext uri="{FF2B5EF4-FFF2-40B4-BE49-F238E27FC236}">
                <a16:creationId xmlns:a16="http://schemas.microsoft.com/office/drawing/2014/main" id="{36CECC84-8649-4150-8538-97E38562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90700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Competing counterfactuals</a:t>
            </a:r>
          </a:p>
        </p:txBody>
      </p:sp>
      <p:sp>
        <p:nvSpPr>
          <p:cNvPr id="9" name="b2-body">
            <a:extLst xmlns:a="http://schemas.openxmlformats.org/drawingml/2006/main">
              <a:ext uri="{FF2B5EF4-FFF2-40B4-BE49-F238E27FC236}">
                <a16:creationId xmlns:a16="http://schemas.microsoft.com/office/drawing/2014/main" id="{0D3EFDE0-68C5-483D-BA29-7595E490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47900"/>
            <a:ext cx="320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81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The Irish transition cost and the UK-financed Northern deficit are shown separately, preventing an invalid subtraction.</a:t>
            </a:r>
          </a:p>
        </p:txBody>
      </p:sp>
      <p:sp>
        <p:nvSpPr>
          <p:cNvPr id="10" name="b3-bar">
            <a:extLst xmlns:a="http://schemas.openxmlformats.org/drawingml/2006/main">
              <a:ext uri="{FF2B5EF4-FFF2-40B4-BE49-F238E27FC236}">
                <a16:creationId xmlns:a16="http://schemas.microsoft.com/office/drawing/2014/main" id="{AF9BDB6B-FE15-4F87-8BE8-3A5CC5F9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907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3-head">
            <a:extLst xmlns:a="http://schemas.openxmlformats.org/drawingml/2006/main">
              <a:ext uri="{FF2B5EF4-FFF2-40B4-BE49-F238E27FC236}">
                <a16:creationId xmlns:a16="http://schemas.microsoft.com/office/drawing/2014/main" id="{4BE5BA88-1FF0-4A4F-9473-EBC561BE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90700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Uncertainty made visible</a:t>
            </a:r>
          </a:p>
        </p:txBody>
      </p:sp>
      <p:sp>
        <p:nvSpPr>
          <p:cNvPr id="12" name="b3-body">
            <a:extLst xmlns:a="http://schemas.openxmlformats.org/drawingml/2006/main">
              <a:ext uri="{FF2B5EF4-FFF2-40B4-BE49-F238E27FC236}">
                <a16:creationId xmlns:a16="http://schemas.microsoft.com/office/drawing/2014/main" id="{59EC5890-00B9-4A0E-AF8E-4B0FFFF3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47900"/>
            <a:ext cx="320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Correlated stress ranges expose tail risk while avoiding the claim that judgement draws are forecast probabilities.</a:t>
            </a:r>
          </a:p>
        </p:txBody>
      </p:sp>
      <p:sp>
        <p:nvSpPr>
          <p:cNvPr id="13" name="b4-bar">
            <a:extLst xmlns:a="http://schemas.openxmlformats.org/drawingml/2006/main">
              <a:ext uri="{FF2B5EF4-FFF2-40B4-BE49-F238E27FC236}">
                <a16:creationId xmlns:a16="http://schemas.microsoft.com/office/drawing/2014/main" id="{51290D24-D2D0-431B-8B8C-52A43ADF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4-head">
            <a:extLst xmlns:a="http://schemas.openxmlformats.org/drawingml/2006/main">
              <a:ext uri="{FF2B5EF4-FFF2-40B4-BE49-F238E27FC236}">
                <a16:creationId xmlns:a16="http://schemas.microsoft.com/office/drawing/2014/main" id="{637E2F78-2AE3-4D2C-A411-34907719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Dynamic fiscal channels</a:t>
            </a:r>
          </a:p>
        </p:txBody>
      </p:sp>
      <p:sp>
        <p:nvSpPr>
          <p:cNvPr id="15" name="b4-body">
            <a:extLst xmlns:a="http://schemas.openxmlformats.org/drawingml/2006/main">
              <a:ext uri="{FF2B5EF4-FFF2-40B4-BE49-F238E27FC236}">
                <a16:creationId xmlns:a16="http://schemas.microsoft.com/office/drawing/2014/main" id="{51648CBB-46B1-4255-8B29-F6BA77E6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320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Debt interest, tax feedback, investment returns, services, pensions and demography evolve annually.</a:t>
            </a:r>
          </a:p>
        </p:txBody>
      </p:sp>
      <p:sp>
        <p:nvSpPr>
          <p:cNvPr id="16" name="b5-bar">
            <a:extLst xmlns:a="http://schemas.openxmlformats.org/drawingml/2006/main">
              <a:ext uri="{FF2B5EF4-FFF2-40B4-BE49-F238E27FC236}">
                <a16:creationId xmlns:a16="http://schemas.microsoft.com/office/drawing/2014/main" id="{9303557B-865A-4441-8A7A-51EA6794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147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5-head">
            <a:extLst xmlns:a="http://schemas.openxmlformats.org/drawingml/2006/main">
              <a:ext uri="{FF2B5EF4-FFF2-40B4-BE49-F238E27FC236}">
                <a16:creationId xmlns:a16="http://schemas.microsoft.com/office/drawing/2014/main" id="{1FC6C172-A6CD-455D-A87E-7BC62B8C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14750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Reproducible outputs</a:t>
            </a:r>
          </a:p>
        </p:txBody>
      </p:sp>
      <p:sp>
        <p:nvSpPr>
          <p:cNvPr id="18" name="b5-body">
            <a:extLst xmlns:a="http://schemas.openxmlformats.org/drawingml/2006/main">
              <a:ext uri="{FF2B5EF4-FFF2-40B4-BE49-F238E27FC236}">
                <a16:creationId xmlns:a16="http://schemas.microsoft.com/office/drawing/2014/main" id="{E8742EC6-0B33-4F77-9BB2-1D39C10A2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71950"/>
            <a:ext cx="320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A fixed seed, draw-level CSV, scenario results, governance register and machine-readable audit permit replication.</a:t>
            </a:r>
          </a:p>
        </p:txBody>
      </p:sp>
      <p:sp>
        <p:nvSpPr>
          <p:cNvPr id="19" name="b6-bar">
            <a:extLst xmlns:a="http://schemas.openxmlformats.org/drawingml/2006/main">
              <a:ext uri="{FF2B5EF4-FFF2-40B4-BE49-F238E27FC236}">
                <a16:creationId xmlns:a16="http://schemas.microsoft.com/office/drawing/2014/main" id="{336A32F6-BCE1-4643-B58E-E4A8F596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147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6-head">
            <a:extLst xmlns:a="http://schemas.openxmlformats.org/drawingml/2006/main">
              <a:ext uri="{FF2B5EF4-FFF2-40B4-BE49-F238E27FC236}">
                <a16:creationId xmlns:a16="http://schemas.microsoft.com/office/drawing/2014/main" id="{8B01F386-7DCD-46E5-BBBB-543DC639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14750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Clear validation limits</a:t>
            </a:r>
          </a:p>
        </p:txBody>
      </p:sp>
      <p:sp>
        <p:nvSpPr>
          <p:cNvPr id="21" name="b6-body">
            <a:extLst xmlns:a="http://schemas.openxmlformats.org/drawingml/2006/main">
              <a:ext uri="{FF2B5EF4-FFF2-40B4-BE49-F238E27FC236}">
                <a16:creationId xmlns:a16="http://schemas.microsoft.com/office/drawing/2014/main" id="{178FC7A5-8BF6-4C08-B7EF-603A1930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71950"/>
            <a:ext cx="320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11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Accounting identities, external demographic benchmarks and unvalidated behavioural channels are explicitly separated.</a:t>
            </a:r>
          </a:p>
        </p:txBody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48BE4CB5-6FBE-492E-BACB-90015D8F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Source  Technical methodology and model governance register, The Price of Unity, 2026</a:t>
            </a:r>
          </a:p>
        </p:txBody>
      </p:sp>
    </p:spTree>
    <p:extLst>
      <p:ext uri="{BB962C8B-B14F-4D97-AF65-F5344CB8AC3E}">
        <p14:creationId xmlns:p14="http://schemas.microsoft.com/office/powerpoint/2010/main" val="10243652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48BE2DA9-30F6-4953-A61C-0B241972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597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The central scenario is manageable annually, but it does not pay for itself within 25 years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1A3AC282-7439-48AD-A666-062E1027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3DF07F32-D033-4E2F-BC5F-AC944D30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57200" y="1524000"/>
          <a:ext xmlns:a="http://schemas.openxmlformats.org/drawingml/2006/main" cx="6667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dac2f471f24b12"/>
          </a:graphicData>
        </a:graphic>
      </p:graphicFrame>
      <p:sp>
        <p:nvSpPr>
          <p:cNvPr id="5" name="m31-panel">
            <a:extLst xmlns:a="http://schemas.openxmlformats.org/drawingml/2006/main">
              <a:ext uri="{FF2B5EF4-FFF2-40B4-BE49-F238E27FC236}">
                <a16:creationId xmlns:a16="http://schemas.microsoft.com/office/drawing/2014/main" id="{6868F25A-1425-401E-BC33-48DDC238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57350"/>
            <a:ext cx="39052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31-value">
            <a:extLst xmlns:a="http://schemas.openxmlformats.org/drawingml/2006/main">
              <a:ext uri="{FF2B5EF4-FFF2-40B4-BE49-F238E27FC236}">
                <a16:creationId xmlns:a16="http://schemas.microsoft.com/office/drawing/2014/main" id="{FD806BE9-0545-4F84-9355-BA59305D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43100"/>
            <a:ext cx="3448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€4.77bn</a:t>
            </a:r>
          </a:p>
        </p:txBody>
      </p:sp>
      <p:sp>
        <p:nvSpPr>
          <p:cNvPr id="7" name="m31-label">
            <a:extLst xmlns:a="http://schemas.openxmlformats.org/drawingml/2006/main">
              <a:ext uri="{FF2B5EF4-FFF2-40B4-BE49-F238E27FC236}">
                <a16:creationId xmlns:a16="http://schemas.microsoft.com/office/drawing/2014/main" id="{DE4B26B6-10D6-4402-87F4-CAACC0CF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781300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Central annual cost in year 10</a:t>
            </a:r>
          </a:p>
        </p:txBody>
      </p:sp>
      <p:sp>
        <p:nvSpPr>
          <p:cNvPr id="8" name="m32-panel">
            <a:extLst xmlns:a="http://schemas.openxmlformats.org/drawingml/2006/main">
              <a:ext uri="{FF2B5EF4-FFF2-40B4-BE49-F238E27FC236}">
                <a16:creationId xmlns:a16="http://schemas.microsoft.com/office/drawing/2014/main" id="{E7D70A26-2357-4B88-B70C-E21F4425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33800"/>
            <a:ext cx="39052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32-value">
            <a:extLst xmlns:a="http://schemas.openxmlformats.org/drawingml/2006/main">
              <a:ext uri="{FF2B5EF4-FFF2-40B4-BE49-F238E27FC236}">
                <a16:creationId xmlns:a16="http://schemas.microsoft.com/office/drawing/2014/main" id="{9DBB9D35-0EAA-4843-85F6-523DED43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19550"/>
            <a:ext cx="3448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€99.11bn</a:t>
            </a:r>
          </a:p>
        </p:txBody>
      </p:sp>
      <p:sp>
        <p:nvSpPr>
          <p:cNvPr id="10" name="m32-label">
            <a:extLst xmlns:a="http://schemas.openxmlformats.org/drawingml/2006/main">
              <a:ext uri="{FF2B5EF4-FFF2-40B4-BE49-F238E27FC236}">
                <a16:creationId xmlns:a16="http://schemas.microsoft.com/office/drawing/2014/main" id="{515153FE-1797-4F86-937D-02B8D3BA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57750"/>
            <a:ext cx="3448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Central cumulative cost over 25 years</a:t>
            </a:r>
          </a:p>
        </p:txBody>
      </p:sp>
      <p:sp>
        <p:nvSpPr>
          <p:cNvPr id="11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80B5BC2F-7A9E-4DC7-AC44-3FF15D51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10250"/>
            <a:ext cx="390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Only the conditional-convergence scenario reaches annual break-even, in year 11, and produces a 25-year cumulative surplus.</a:t>
            </a:r>
          </a:p>
        </p:txBody>
      </p:sp>
      <p:sp>
        <p:nvSpPr>
          <p:cNvPr id="12" name="source">
            <a:extLst xmlns:a="http://schemas.openxmlformats.org/drawingml/2006/main">
              <a:ext uri="{FF2B5EF4-FFF2-40B4-BE49-F238E27FC236}">
                <a16:creationId xmlns:a16="http://schemas.microsoft.com/office/drawing/2014/main" id="{0A9EABB1-0942-4345-8A8F-34083997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Source  scenario_results.csv. Values are model outputs in 2023 euro prices</a:t>
            </a:r>
          </a:p>
        </p:txBody>
      </p:sp>
    </p:spTree>
    <p:extLst>
      <p:ext uri="{BB962C8B-B14F-4D97-AF65-F5344CB8AC3E}">
        <p14:creationId xmlns:p14="http://schemas.microsoft.com/office/powerpoint/2010/main" val="709438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12087AD7-5994-4340-B8FC-79A10EC2A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597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The status quo is also costly, but the two fiscal incidences answer different questions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E2DE7E22-1257-4AE8-9D07-6D77530F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C6A929E3-0AB6-4E04-998B-627CEC06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57200" y="1524000"/>
          <a:ext xmlns:a="http://schemas.openxmlformats.org/drawingml/2006/main" cx="68580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847ad292814f90"/>
          </a:graphicData>
        </a:graphic>
      </p:graphicFrame>
      <p:sp>
        <p:nvSpPr>
          <p:cNvPr id="5" name="m41-panel">
            <a:extLst xmlns:a="http://schemas.openxmlformats.org/drawingml/2006/main">
              <a:ext uri="{FF2B5EF4-FFF2-40B4-BE49-F238E27FC236}">
                <a16:creationId xmlns:a16="http://schemas.microsoft.com/office/drawing/2014/main" id="{9AB49175-C7DD-4921-B02D-5F99B4A9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76400"/>
            <a:ext cx="3714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41-value">
            <a:extLst xmlns:a="http://schemas.openxmlformats.org/drawingml/2006/main">
              <a:ext uri="{FF2B5EF4-FFF2-40B4-BE49-F238E27FC236}">
                <a16:creationId xmlns:a16="http://schemas.microsoft.com/office/drawing/2014/main" id="{873C8EAC-1054-493B-9A36-DD986FE4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62150"/>
            <a:ext cx="3257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€4.77bn</a:t>
            </a:r>
          </a:p>
        </p:txBody>
      </p:sp>
      <p:sp>
        <p:nvSpPr>
          <p:cNvPr id="7" name="m41-label">
            <a:extLst xmlns:a="http://schemas.openxmlformats.org/drawingml/2006/main">
              <a:ext uri="{FF2B5EF4-FFF2-40B4-BE49-F238E27FC236}">
                <a16:creationId xmlns:a16="http://schemas.microsoft.com/office/drawing/2014/main" id="{5EF88A22-04A1-406F-8FF2-BA2DFA9C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00350"/>
            <a:ext cx="3257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Irish Exchequer unity cost in year 10</a:t>
            </a:r>
          </a:p>
        </p:txBody>
      </p:sp>
      <p:sp>
        <p:nvSpPr>
          <p:cNvPr id="8" name="m42-panel">
            <a:extLst xmlns:a="http://schemas.openxmlformats.org/drawingml/2006/main">
              <a:ext uri="{FF2B5EF4-FFF2-40B4-BE49-F238E27FC236}">
                <a16:creationId xmlns:a16="http://schemas.microsoft.com/office/drawing/2014/main" id="{1BC34FEE-CC49-4634-BA24-2816D800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52850"/>
            <a:ext cx="3714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42-value">
            <a:extLst xmlns:a="http://schemas.openxmlformats.org/drawingml/2006/main">
              <a:ext uri="{FF2B5EF4-FFF2-40B4-BE49-F238E27FC236}">
                <a16:creationId xmlns:a16="http://schemas.microsoft.com/office/drawing/2014/main" id="{27A77638-8CEB-41FB-BFAB-FDD273BE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38600"/>
            <a:ext cx="3257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A83A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A83A32"/>
                </a:solidFill>
                <a:latin typeface="Arial"/>
                <a:ea typeface="Arial"/>
                <a:cs typeface="Arial"/>
              </a:rPr>
              <a:t>€20.96bn</a:t>
            </a:r>
          </a:p>
        </p:txBody>
      </p:sp>
      <p:sp>
        <p:nvSpPr>
          <p:cNvPr id="10" name="m42-label">
            <a:extLst xmlns:a="http://schemas.openxmlformats.org/drawingml/2006/main">
              <a:ext uri="{FF2B5EF4-FFF2-40B4-BE49-F238E27FC236}">
                <a16:creationId xmlns:a16="http://schemas.microsoft.com/office/drawing/2014/main" id="{B1E2726E-003F-4A4C-A9E0-58A21832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876800"/>
            <a:ext cx="3257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UK-financed Northern deficit in year 10</a:t>
            </a:r>
          </a:p>
        </p:txBody>
      </p:sp>
      <p:sp>
        <p:nvSpPr>
          <p:cNvPr id="11" name="warning">
            <a:extLst xmlns:a="http://schemas.openxmlformats.org/drawingml/2006/main">
              <a:ext uri="{FF2B5EF4-FFF2-40B4-BE49-F238E27FC236}">
                <a16:creationId xmlns:a16="http://schemas.microsoft.com/office/drawing/2014/main" id="{D39DCEF4-ADEA-4F9B-B7BA-13551C4E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810250"/>
            <a:ext cx="371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50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Do not subtract these numbers without qualification. One is an Irish financing incidence under unity. The other is a Northern resource deficit financed within the UK.</a:t>
            </a:r>
          </a:p>
        </p:txBody>
      </p:sp>
      <p:sp>
        <p:nvSpPr>
          <p:cNvPr id="12" name="source">
            <a:extLst xmlns:a="http://schemas.openxmlformats.org/drawingml/2006/main">
              <a:ext uri="{FF2B5EF4-FFF2-40B4-BE49-F238E27FC236}">
                <a16:creationId xmlns:a16="http://schemas.microsoft.com/office/drawing/2014/main" id="{6A6946DB-6178-4E56-BBED-3E5EFF2A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Source  validation_model.mjs. Status-quo path begins from ONS revenue and managed expenditure</a:t>
            </a:r>
          </a:p>
        </p:txBody>
      </p:sp>
    </p:spTree>
    <p:extLst>
      <p:ext uri="{BB962C8B-B14F-4D97-AF65-F5344CB8AC3E}">
        <p14:creationId xmlns:p14="http://schemas.microsoft.com/office/powerpoint/2010/main" val="1828450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B0A83BC3-DA22-4124-A884-22979CB2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21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Uncertainty is wide and materially skewed towards higher fiscal costs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4762D131-18CE-4541-B2E8-F1FA5C0E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94789C47-F73E-4568-A214-C544295D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u1-panel">
            <a:extLst xmlns:a="http://schemas.openxmlformats.org/drawingml/2006/main">
              <a:ext uri="{FF2B5EF4-FFF2-40B4-BE49-F238E27FC236}">
                <a16:creationId xmlns:a16="http://schemas.microsoft.com/office/drawing/2014/main" id="{BBB163F1-73BB-48BD-A732-D2DD7336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34290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u1-value">
            <a:extLst xmlns:a="http://schemas.openxmlformats.org/drawingml/2006/main">
              <a:ext uri="{FF2B5EF4-FFF2-40B4-BE49-F238E27FC236}">
                <a16:creationId xmlns:a16="http://schemas.microsoft.com/office/drawing/2014/main" id="{5F6A9638-02EA-464C-9723-75B91BD4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€87.8bn</a:t>
            </a:r>
          </a:p>
        </p:txBody>
      </p:sp>
      <p:sp>
        <p:nvSpPr>
          <p:cNvPr id="6" name="u1-label">
            <a:extLst xmlns:a="http://schemas.openxmlformats.org/drawingml/2006/main">
              <a:ext uri="{FF2B5EF4-FFF2-40B4-BE49-F238E27FC236}">
                <a16:creationId xmlns:a16="http://schemas.microsoft.com/office/drawing/2014/main" id="{5D071E79-8E72-4E07-B86E-5ADA2F97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P10 cumulative cost over 25 years</a:t>
            </a:r>
          </a:p>
        </p:txBody>
      </p:sp>
      <p:sp>
        <p:nvSpPr>
          <p:cNvPr id="7" name="u2-panel">
            <a:extLst xmlns:a="http://schemas.openxmlformats.org/drawingml/2006/main">
              <a:ext uri="{FF2B5EF4-FFF2-40B4-BE49-F238E27FC236}">
                <a16:creationId xmlns:a16="http://schemas.microsoft.com/office/drawing/2014/main" id="{1FE830D9-B962-41A4-A102-5B564FE8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u2-value">
            <a:extLst xmlns:a="http://schemas.openxmlformats.org/drawingml/2006/main">
              <a:ext uri="{FF2B5EF4-FFF2-40B4-BE49-F238E27FC236}">
                <a16:creationId xmlns:a16="http://schemas.microsoft.com/office/drawing/2014/main" id="{96B86A17-07C2-4C2C-AB77-2C16E192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002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€253.3bn</a:t>
            </a:r>
          </a:p>
        </p:txBody>
      </p:sp>
      <p:sp>
        <p:nvSpPr>
          <p:cNvPr id="9" name="u2-label">
            <a:extLst xmlns:a="http://schemas.openxmlformats.org/drawingml/2006/main">
              <a:ext uri="{FF2B5EF4-FFF2-40B4-BE49-F238E27FC236}">
                <a16:creationId xmlns:a16="http://schemas.microsoft.com/office/drawing/2014/main" id="{97FD5D18-7492-4D1D-A986-DB8DF580E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3845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Median cumulative cost over 25 years</a:t>
            </a:r>
          </a:p>
        </p:txBody>
      </p:sp>
      <p:sp>
        <p:nvSpPr>
          <p:cNvPr id="10" name="u3-panel">
            <a:extLst xmlns:a="http://schemas.openxmlformats.org/drawingml/2006/main">
              <a:ext uri="{FF2B5EF4-FFF2-40B4-BE49-F238E27FC236}">
                <a16:creationId xmlns:a16="http://schemas.microsoft.com/office/drawing/2014/main" id="{D8BA9F0D-EFE5-4CCA-96D7-465C1346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14500"/>
            <a:ext cx="34290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u3-value">
            <a:extLst xmlns:a="http://schemas.openxmlformats.org/drawingml/2006/main">
              <a:ext uri="{FF2B5EF4-FFF2-40B4-BE49-F238E27FC236}">
                <a16:creationId xmlns:a16="http://schemas.microsoft.com/office/drawing/2014/main" id="{885D47C4-AA6D-4308-8D0A-7720DC13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A83A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A83A32"/>
                </a:solidFill>
                <a:latin typeface="Arial"/>
                <a:ea typeface="Arial"/>
                <a:cs typeface="Arial"/>
              </a:rPr>
              <a:t>€472.0bn</a:t>
            </a:r>
          </a:p>
        </p:txBody>
      </p:sp>
      <p:sp>
        <p:nvSpPr>
          <p:cNvPr id="12" name="u3-label">
            <a:extLst xmlns:a="http://schemas.openxmlformats.org/drawingml/2006/main">
              <a:ext uri="{FF2B5EF4-FFF2-40B4-BE49-F238E27FC236}">
                <a16:creationId xmlns:a16="http://schemas.microsoft.com/office/drawing/2014/main" id="{AD083C56-2FF3-4D45-A52A-9F18D727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3845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P90 cumulative cost over 25 years</a:t>
            </a:r>
          </a:p>
        </p:txBody>
      </p:sp>
      <p:sp>
        <p:nvSpPr>
          <p:cNvPr id="13" name="range-line">
            <a:extLst xmlns:a="http://schemas.openxmlformats.org/drawingml/2006/main">
              <a:ext uri="{FF2B5EF4-FFF2-40B4-BE49-F238E27FC236}">
                <a16:creationId xmlns:a16="http://schemas.microsoft.com/office/drawing/2014/main" id="{6AB0C7D5-8930-4A87-A1DF-1FAFC24D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101346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ange-p10">
            <a:extLst xmlns:a="http://schemas.openxmlformats.org/drawingml/2006/main">
              <a:ext uri="{FF2B5EF4-FFF2-40B4-BE49-F238E27FC236}">
                <a16:creationId xmlns:a16="http://schemas.microsoft.com/office/drawing/2014/main" id="{AA54899F-E582-4643-84CE-E0ECFAB2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14825"/>
            <a:ext cx="171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ange-med">
            <a:extLst xmlns:a="http://schemas.openxmlformats.org/drawingml/2006/main">
              <a:ext uri="{FF2B5EF4-FFF2-40B4-BE49-F238E27FC236}">
                <a16:creationId xmlns:a16="http://schemas.microsoft.com/office/drawing/2014/main" id="{19EFFCD7-4410-451A-885D-BD3379F8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38625"/>
            <a:ext cx="247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ange-p90">
            <a:extLst xmlns:a="http://schemas.openxmlformats.org/drawingml/2006/main">
              <a:ext uri="{FF2B5EF4-FFF2-40B4-BE49-F238E27FC236}">
                <a16:creationId xmlns:a16="http://schemas.microsoft.com/office/drawing/2014/main" id="{DBAA6839-7CCE-4A04-884F-751D8EE6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4314825"/>
            <a:ext cx="171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ange-copy">
            <a:extLst xmlns:a="http://schemas.openxmlformats.org/drawingml/2006/main">
              <a:ext uri="{FF2B5EF4-FFF2-40B4-BE49-F238E27FC236}">
                <a16:creationId xmlns:a16="http://schemas.microsoft.com/office/drawing/2014/main" id="{11E216C2-F2CA-466B-BF01-C31FBC9F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71A33"/>
                </a:solidFill>
                <a:latin typeface="Arial"/>
                <a:ea typeface="Arial"/>
                <a:cs typeface="Arial"/>
              </a:rPr>
              <a:t>The range combines correlated macroeconomic, convergence, settlement and delivery risks. It is a disciplined stress test, not an estimated probability distribution.</a:t>
            </a:r>
          </a:p>
        </p:txBody>
      </p:sp>
      <p:sp>
        <p:nvSpPr>
          <p:cNvPr id="18" name="break-even">
            <a:extLst xmlns:a="http://schemas.openxmlformats.org/drawingml/2006/main">
              <a:ext uri="{FF2B5EF4-FFF2-40B4-BE49-F238E27FC236}">
                <a16:creationId xmlns:a16="http://schemas.microsoft.com/office/drawing/2014/main" id="{8C7BD63A-661D-4326-B372-56840D5C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848350"/>
            <a:ext cx="746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83A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83A32"/>
                </a:solidFill>
                <a:latin typeface="Arial"/>
                <a:ea typeface="Arial"/>
                <a:cs typeface="Arial"/>
              </a:rPr>
              <a:t>Only 9% of structured draws reach annual break-even by year 25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A2FE9612-FF08-40CD-9A13-350C692A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Source  uncertainty_summary.json. 2,000 draws, fixed seed 20260721</a:t>
            </a:r>
          </a:p>
        </p:txBody>
      </p:sp>
    </p:spTree>
    <p:extLst>
      <p:ext uri="{BB962C8B-B14F-4D97-AF65-F5344CB8AC3E}">
        <p14:creationId xmlns:p14="http://schemas.microsoft.com/office/powerpoint/2010/main" val="1819878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">
            <a:extLst xmlns:a="http://schemas.openxmlformats.org/drawingml/2006/main">
              <a:ext uri="{FF2B5EF4-FFF2-40B4-BE49-F238E27FC236}">
                <a16:creationId xmlns:a16="http://schemas.microsoft.com/office/drawing/2014/main" id="{ABD0E664-1DAF-42E9-980C-92D75291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132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Three convergence tests turn the model into a practical decision rule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B706CDE0-A744-4399-AD7C-0624406C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C5569277-917C-4C68-AE5E-F73996D8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c1-panel">
            <a:extLst xmlns:a="http://schemas.openxmlformats.org/drawingml/2006/main">
              <a:ext uri="{FF2B5EF4-FFF2-40B4-BE49-F238E27FC236}">
                <a16:creationId xmlns:a16="http://schemas.microsoft.com/office/drawing/2014/main" id="{86675D12-EAAC-480C-9481-5E2B6248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52600"/>
            <a:ext cx="34290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1-value">
            <a:extLst xmlns:a="http://schemas.openxmlformats.org/drawingml/2006/main">
              <a:ext uri="{FF2B5EF4-FFF2-40B4-BE49-F238E27FC236}">
                <a16:creationId xmlns:a16="http://schemas.microsoft.com/office/drawing/2014/main" id="{6904509A-9142-48DB-BBC2-D60BB4F0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c1-label">
            <a:extLst xmlns:a="http://schemas.openxmlformats.org/drawingml/2006/main">
              <a:ext uri="{FF2B5EF4-FFF2-40B4-BE49-F238E27FC236}">
                <a16:creationId xmlns:a16="http://schemas.microsoft.com/office/drawing/2014/main" id="{6F8B4BF6-154D-453C-B90D-C4FD1159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Fiscal resilience</a:t>
            </a:r>
          </a:p>
        </p:txBody>
      </p:sp>
      <p:sp>
        <p:nvSpPr>
          <p:cNvPr id="7" name="c1body">
            <a:extLst xmlns:a="http://schemas.openxmlformats.org/drawingml/2006/main">
              <a:ext uri="{FF2B5EF4-FFF2-40B4-BE49-F238E27FC236}">
                <a16:creationId xmlns:a16="http://schemas.microsoft.com/office/drawing/2014/main" id="{B5489DB9-B1CC-449E-92DA-80BBFE42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971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Annual costs and transition debt must remain within an agreed fiscal envelope under adverse conditions.</a:t>
            </a:r>
          </a:p>
        </p:txBody>
      </p:sp>
      <p:sp>
        <p:nvSpPr>
          <p:cNvPr id="8" name="c2-panel">
            <a:extLst xmlns:a="http://schemas.openxmlformats.org/drawingml/2006/main">
              <a:ext uri="{FF2B5EF4-FFF2-40B4-BE49-F238E27FC236}">
                <a16:creationId xmlns:a16="http://schemas.microsoft.com/office/drawing/2014/main" id="{5831F62C-D81B-47AE-B462-F92D0B45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52600"/>
            <a:ext cx="34290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2-value">
            <a:extLst xmlns:a="http://schemas.openxmlformats.org/drawingml/2006/main">
              <a:ext uri="{FF2B5EF4-FFF2-40B4-BE49-F238E27FC236}">
                <a16:creationId xmlns:a16="http://schemas.microsoft.com/office/drawing/2014/main" id="{F251B806-ADB8-471C-A836-2102E300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383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c2-label">
            <a:extLst xmlns:a="http://schemas.openxmlformats.org/drawingml/2006/main">
              <a:ext uri="{FF2B5EF4-FFF2-40B4-BE49-F238E27FC236}">
                <a16:creationId xmlns:a16="http://schemas.microsoft.com/office/drawing/2014/main" id="{81D6528B-9C7C-4DBC-AE75-0B85E89C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7655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Productive convergence</a:t>
            </a:r>
          </a:p>
        </p:txBody>
      </p:sp>
      <p:sp>
        <p:nvSpPr>
          <p:cNvPr id="11" name="c2body">
            <a:extLst xmlns:a="http://schemas.openxmlformats.org/drawingml/2006/main">
              <a:ext uri="{FF2B5EF4-FFF2-40B4-BE49-F238E27FC236}">
                <a16:creationId xmlns:a16="http://schemas.microsoft.com/office/drawing/2014/main" id="{E9194008-199F-499F-AA3A-0F6DC38A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48100"/>
            <a:ext cx="2971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Northern productivity and employment gains must generate durable revenue rather than rely on assumed catch-up.</a:t>
            </a:r>
          </a:p>
        </p:txBody>
      </p:sp>
      <p:sp>
        <p:nvSpPr>
          <p:cNvPr id="12" name="c3-panel">
            <a:extLst xmlns:a="http://schemas.openxmlformats.org/drawingml/2006/main">
              <a:ext uri="{FF2B5EF4-FFF2-40B4-BE49-F238E27FC236}">
                <a16:creationId xmlns:a16="http://schemas.microsoft.com/office/drawing/2014/main" id="{93B56D9B-9C0B-4939-B831-FE6CAF89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52600"/>
            <a:ext cx="34290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0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3-value">
            <a:extLst xmlns:a="http://schemas.openxmlformats.org/drawingml/2006/main">
              <a:ext uri="{FF2B5EF4-FFF2-40B4-BE49-F238E27FC236}">
                <a16:creationId xmlns:a16="http://schemas.microsoft.com/office/drawing/2014/main" id="{3A64E9DF-2B55-45C1-84DF-A9A0DCF4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38350"/>
            <a:ext cx="2971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c3-label">
            <a:extLst xmlns:a="http://schemas.openxmlformats.org/drawingml/2006/main">
              <a:ext uri="{FF2B5EF4-FFF2-40B4-BE49-F238E27FC236}">
                <a16:creationId xmlns:a16="http://schemas.microsoft.com/office/drawing/2014/main" id="{B71ACF0B-C29A-4411-868E-BDF707C6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76550"/>
            <a:ext cx="297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Services and institutions</a:t>
            </a:r>
          </a:p>
        </p:txBody>
      </p:sp>
      <p:sp>
        <p:nvSpPr>
          <p:cNvPr id="15" name="c3body">
            <a:extLst xmlns:a="http://schemas.openxmlformats.org/drawingml/2006/main">
              <a:ext uri="{FF2B5EF4-FFF2-40B4-BE49-F238E27FC236}">
                <a16:creationId xmlns:a16="http://schemas.microsoft.com/office/drawing/2014/main" id="{E3E875AE-0952-4F09-BA2A-94F2B265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48100"/>
            <a:ext cx="2971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Service improvements require outcome targets, unit-cost evidence and a funded implementation plan.</a:t>
            </a:r>
          </a:p>
        </p:txBody>
      </p:sp>
      <p:sp>
        <p:nvSpPr>
          <p:cNvPr id="16" name="decision">
            <a:extLst xmlns:a="http://schemas.openxmlformats.org/drawingml/2006/main">
              <a:ext uri="{FF2B5EF4-FFF2-40B4-BE49-F238E27FC236}">
                <a16:creationId xmlns:a16="http://schemas.microsoft.com/office/drawing/2014/main" id="{963F679C-4558-488D-8382-3D902324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102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Unity becomes economically credible when all three tests are passed together, not when one favourable growth assumption closes the fiscal gap.</a:t>
            </a:r>
          </a:p>
        </p:txBody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CA7C8847-B140-481C-BF56-C95F6FED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Source  convergence tests and technical methodology, The Price of Unity</a:t>
            </a:r>
          </a:p>
        </p:txBody>
      </p:sp>
    </p:spTree>
    <p:extLst>
      <p:ext uri="{BB962C8B-B14F-4D97-AF65-F5344CB8AC3E}">
        <p14:creationId xmlns:p14="http://schemas.microsoft.com/office/powerpoint/2010/main" val="129491522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">
            <a:extLst xmlns:a="http://schemas.openxmlformats.org/drawingml/2006/main">
              <a:ext uri="{FF2B5EF4-FFF2-40B4-BE49-F238E27FC236}">
                <a16:creationId xmlns:a16="http://schemas.microsoft.com/office/drawing/2014/main" id="{CE073EF1-B0C1-4F8F-9C61-0D813456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34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The model is strongest as a challenge tool, not as a point forecast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744CE537-D3A6-4C60-8402-BBDF868E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">
            <a:extLst xmlns:a="http://schemas.openxmlformats.org/drawingml/2006/main">
              <a:ext uri="{FF2B5EF4-FFF2-40B4-BE49-F238E27FC236}">
                <a16:creationId xmlns:a16="http://schemas.microsoft.com/office/drawing/2014/main" id="{92636852-2B1D-42DD-869D-3FF57922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238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s1-bar">
            <a:extLst xmlns:a="http://schemas.openxmlformats.org/drawingml/2006/main">
              <a:ext uri="{FF2B5EF4-FFF2-40B4-BE49-F238E27FC236}">
                <a16:creationId xmlns:a16="http://schemas.microsoft.com/office/drawing/2014/main" id="{9463591D-D149-4491-B0E8-0B325FD7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7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1-head">
            <a:extLst xmlns:a="http://schemas.openxmlformats.org/drawingml/2006/main">
              <a:ext uri="{FF2B5EF4-FFF2-40B4-BE49-F238E27FC236}">
                <a16:creationId xmlns:a16="http://schemas.microsoft.com/office/drawing/2014/main" id="{18601787-E44F-4FDF-990D-33CFB955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501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What it can establish</a:t>
            </a:r>
          </a:p>
        </p:txBody>
      </p:sp>
      <p:sp>
        <p:nvSpPr>
          <p:cNvPr id="6" name="s1-body">
            <a:extLst xmlns:a="http://schemas.openxmlformats.org/drawingml/2006/main">
              <a:ext uri="{FF2B5EF4-FFF2-40B4-BE49-F238E27FC236}">
                <a16:creationId xmlns:a16="http://schemas.microsoft.com/office/drawing/2014/main" id="{ED53E165-7046-446B-8AA0-5E4B64DC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010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Which assumptions drive costs, how negotiated liabilities change exposure, where fiscal stress appears, and what evidence is missing.</a:t>
            </a:r>
          </a:p>
        </p:txBody>
      </p:sp>
      <p:sp>
        <p:nvSpPr>
          <p:cNvPr id="7" name="s2-bar">
            <a:extLst xmlns:a="http://schemas.openxmlformats.org/drawingml/2006/main">
              <a:ext uri="{FF2B5EF4-FFF2-40B4-BE49-F238E27FC236}">
                <a16:creationId xmlns:a16="http://schemas.microsoft.com/office/drawing/2014/main" id="{AD3D0743-3C5A-472A-BBCB-136F5B14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3A3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2-head">
            <a:extLst xmlns:a="http://schemas.openxmlformats.org/drawingml/2006/main">
              <a:ext uri="{FF2B5EF4-FFF2-40B4-BE49-F238E27FC236}">
                <a16:creationId xmlns:a16="http://schemas.microsoft.com/office/drawing/2014/main" id="{963CA1A9-FAD5-45F5-95FF-297EF9B8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676400"/>
            <a:ext cx="501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What it cannot establish</a:t>
            </a:r>
          </a:p>
        </p:txBody>
      </p:sp>
      <p:sp>
        <p:nvSpPr>
          <p:cNvPr id="9" name="s2-body">
            <a:extLst xmlns:a="http://schemas.openxmlformats.org/drawingml/2006/main">
              <a:ext uri="{FF2B5EF4-FFF2-40B4-BE49-F238E27FC236}">
                <a16:creationId xmlns:a16="http://schemas.microsoft.com/office/drawing/2014/main" id="{BF8DE33C-A64E-4AC7-ADC4-0298D309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33600"/>
            <a:ext cx="5010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The probability of unity, the negotiated pension or debt settlement, precise behavioural responses, or a forecast growth dividend.</a:t>
            </a:r>
          </a:p>
        </p:txBody>
      </p:sp>
      <p:sp>
        <p:nvSpPr>
          <p:cNvPr id="10" name="validated-head">
            <a:extLst xmlns:a="http://schemas.openxmlformats.org/drawingml/2006/main">
              <a:ext uri="{FF2B5EF4-FFF2-40B4-BE49-F238E27FC236}">
                <a16:creationId xmlns:a16="http://schemas.microsoft.com/office/drawing/2014/main" id="{715D5C2A-6BD3-477E-A9AA-898B89F0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623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705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7052"/>
                </a:solidFill>
                <a:latin typeface="Arial"/>
                <a:ea typeface="Arial"/>
                <a:cs typeface="Arial"/>
              </a:rPr>
              <a:t>Validated or benchmarked</a:t>
            </a:r>
          </a:p>
        </p:txBody>
      </p:sp>
      <p:sp>
        <p:nvSpPr>
          <p:cNvPr id="11" name="validated-body">
            <a:extLst xmlns:a="http://schemas.openxmlformats.org/drawingml/2006/main">
              <a:ext uri="{FF2B5EF4-FFF2-40B4-BE49-F238E27FC236}">
                <a16:creationId xmlns:a16="http://schemas.microsoft.com/office/drawing/2014/main" id="{64E25167-57D7-43EB-8C2B-7736CB42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81450"/>
            <a:ext cx="523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Fiscal bridge arithmetic</a:t>
            </a:r>
          </a:p>
          <a:p xmlns:a="http://schemas.openxmlformats.org/drawingml/2006/main">
            <a:pPr algn="l">
              <a:defRPr sz="1425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Source reproduction</a:t>
            </a:r>
          </a:p>
          <a:p xmlns:a="http://schemas.openxmlformats.org/drawingml/2006/main">
            <a:pPr algn="l">
              <a:defRPr sz="1425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Northern population benchmark</a:t>
            </a:r>
          </a:p>
          <a:p xmlns:a="http://schemas.openxmlformats.org/drawingml/2006/main">
            <a:pPr algn="l">
              <a:defRPr sz="1425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Reproducible scenario calculations</a:t>
            </a:r>
          </a:p>
        </p:txBody>
      </p:sp>
      <p:sp>
        <p:nvSpPr>
          <p:cNvPr id="12" name="unvalidated-head">
            <a:extLst xmlns:a="http://schemas.openxmlformats.org/drawingml/2006/main">
              <a:ext uri="{FF2B5EF4-FFF2-40B4-BE49-F238E27FC236}">
                <a16:creationId xmlns:a16="http://schemas.microsoft.com/office/drawing/2014/main" id="{153BB36D-8ABC-4855-B770-03A9B34D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623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83A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83A32"/>
                </a:solidFill>
                <a:latin typeface="Arial"/>
                <a:ea typeface="Arial"/>
                <a:cs typeface="Arial"/>
              </a:rPr>
              <a:t>Still requiring empirical work</a:t>
            </a:r>
          </a:p>
        </p:txBody>
      </p:sp>
      <p:sp>
        <p:nvSpPr>
          <p:cNvPr id="13" name="unvalidated-body">
            <a:extLst xmlns:a="http://schemas.openxmlformats.org/drawingml/2006/main">
              <a:ext uri="{FF2B5EF4-FFF2-40B4-BE49-F238E27FC236}">
                <a16:creationId xmlns:a16="http://schemas.microsoft.com/office/drawing/2014/main" id="{687A743A-CE5A-4C16-9807-50CC83A9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81450"/>
            <a:ext cx="523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Tax and labour responses</a:t>
            </a:r>
          </a:p>
          <a:p xmlns:a="http://schemas.openxmlformats.org/drawingml/2006/main">
            <a:pPr algn="l">
              <a:defRPr sz="1425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Service outcome production functions</a:t>
            </a:r>
          </a:p>
          <a:p xmlns:a="http://schemas.openxmlformats.org/drawingml/2006/main">
            <a:pPr algn="l">
              <a:defRPr sz="1425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Investment productivity returns</a:t>
            </a:r>
          </a:p>
          <a:p xmlns:a="http://schemas.openxmlformats.org/drawingml/2006/main">
            <a:pPr algn="l">
              <a:defRPr sz="1425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Distributional microsimulation</a:t>
            </a:r>
          </a:p>
        </p:txBody>
      </p:sp>
      <p:sp>
        <p:nvSpPr>
          <p:cNvPr id="14" name="source">
            <a:extLst xmlns:a="http://schemas.openxmlformats.org/drawingml/2006/main">
              <a:ext uri="{FF2B5EF4-FFF2-40B4-BE49-F238E27FC236}">
                <a16:creationId xmlns:a16="http://schemas.microsoft.com/office/drawing/2014/main" id="{55DFEE84-AA03-4B0E-AA51-3939C8EA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6272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26272"/>
                </a:solidFill>
                <a:latin typeface="Arial"/>
                <a:ea typeface="Arial"/>
                <a:cs typeface="Arial"/>
              </a:rPr>
              <a:t>Source  validation scorecard and technical methodology, The Price of Unity</a:t>
            </a:r>
          </a:p>
        </p:txBody>
      </p:sp>
    </p:spTree>
    <p:extLst>
      <p:ext uri="{BB962C8B-B14F-4D97-AF65-F5344CB8AC3E}">
        <p14:creationId xmlns:p14="http://schemas.microsoft.com/office/powerpoint/2010/main" val="1943261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E04C7AC4-2748-4021-A0AE-3E315EA3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7B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67B9"/>
                </a:solidFill>
                <a:latin typeface="Arial"/>
                <a:ea typeface="Arial"/>
                <a:cs typeface="Arial"/>
              </a:rPr>
              <a:t>IMPLICATION FOR COLLEAGUES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43854B94-B473-48D7-8992-081BB4C9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10096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828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Use the model to improve the questions before debating the answer</a:t>
            </a:r>
          </a:p>
        </p:txBody>
      </p:sp>
      <p:sp>
        <p:nvSpPr>
          <p:cNvPr id="3" name="close-rule">
            <a:extLst xmlns:a="http://schemas.openxmlformats.org/drawingml/2006/main">
              <a:ext uri="{FF2B5EF4-FFF2-40B4-BE49-F238E27FC236}">
                <a16:creationId xmlns:a16="http://schemas.microsoft.com/office/drawing/2014/main" id="{8393BAEA-912E-4A4D-BB59-8DE1550C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11277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lose-1">
            <a:extLst xmlns:a="http://schemas.openxmlformats.org/drawingml/2006/main">
              <a:ext uri="{FF2B5EF4-FFF2-40B4-BE49-F238E27FC236}">
                <a16:creationId xmlns:a16="http://schemas.microsoft.com/office/drawing/2014/main" id="{04549AB1-EF21-43B0-AFF5-8F130A2C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Ask which settlement, growth path and service standard is being assumed</a:t>
            </a:r>
          </a:p>
        </p:txBody>
      </p:sp>
      <p:sp>
        <p:nvSpPr>
          <p:cNvPr id="5" name="close-2">
            <a:extLst xmlns:a="http://schemas.openxmlformats.org/drawingml/2006/main">
              <a:ext uri="{FF2B5EF4-FFF2-40B4-BE49-F238E27FC236}">
                <a16:creationId xmlns:a16="http://schemas.microsoft.com/office/drawing/2014/main" id="{3F6EC1B1-3FCF-4CB5-9DFF-1D61DCD4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Demand a fiscal envelope and an implementation plan before accepting a central estimate</a:t>
            </a:r>
          </a:p>
        </p:txBody>
      </p:sp>
      <p:sp>
        <p:nvSpPr>
          <p:cNvPr id="6" name="close-3">
            <a:extLst xmlns:a="http://schemas.openxmlformats.org/drawingml/2006/main">
              <a:ext uri="{FF2B5EF4-FFF2-40B4-BE49-F238E27FC236}">
                <a16:creationId xmlns:a16="http://schemas.microsoft.com/office/drawing/2014/main" id="{38B8EF03-23CF-4B38-8415-FA8D6A58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A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71A33"/>
                </a:solidFill>
                <a:latin typeface="Arial"/>
                <a:ea typeface="Arial"/>
                <a:cs typeface="Arial"/>
              </a:rPr>
              <a:t>Treat every result as conditional and update it as official evidence improves</a:t>
            </a:r>
          </a:p>
        </p:txBody>
      </p:sp>
      <p:sp>
        <p:nvSpPr>
          <p:cNvPr id="7" name="close-link">
            <a:extLst xmlns:a="http://schemas.openxmlformats.org/drawingml/2006/main">
              <a:ext uri="{FF2B5EF4-FFF2-40B4-BE49-F238E27FC236}">
                <a16:creationId xmlns:a16="http://schemas.microsoft.com/office/drawing/2014/main" id="{C6DE9CCF-E996-421E-87B9-D50A0D5A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579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67B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67B9"/>
                </a:solidFill>
                <a:latin typeface="Arial"/>
                <a:ea typeface="Arial"/>
                <a:cs typeface="Arial"/>
              </a:rPr>
              <a:t>stephenkinsella.net/unity/</a:t>
            </a:r>
          </a:p>
        </p:txBody>
      </p:sp>
    </p:spTree>
    <p:extLst>
      <p:ext uri="{BB962C8B-B14F-4D97-AF65-F5344CB8AC3E}">
        <p14:creationId xmlns:p14="http://schemas.microsoft.com/office/powerpoint/2010/main" val="9634844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2026-07-21T18:06:41.3970000Z</dcterms:created>
  <dcterms:modified xsi:type="dcterms:W3CDTF">2026-07-21T18:06:41.3970000Z</dcterms:modified>
</coreProperties>
</file>